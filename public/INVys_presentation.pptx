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Title Page &amp; Abstract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INVys: Indoor Navigation System for Persons with Visual Impairment Using RGB-D Camera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Widyawan, Muhammad Risqi Saputra, Paulus Insap Santosa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Universitas Gadjah Mada (Yogyakarta) and Monash University Indonesia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JNTETI, Vol. 12 No. 4, November 2023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Abstract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indoor navigation for persons with visual impairment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INVys system using an RGB-D camera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Micronavigation: depth information; novel auto-adaptive double thresholding (AADT)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Macronavigation: color information; optical glyphs with automatic glyph binarization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AADT compared with baseline and AAT: accuracy, precision, robustness, execution time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Glyphs evaluated on accuracy and execution time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I. 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Indoor navigation is one of the most difficult activities for persons with visual impairment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Micronavigation: sensing the immediate environment for obstacles and hazards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Macronavigation: reaching remote destinations beyond the immediate environment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must confirm the place in front of them is the right destination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I. 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of Conventional Tools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cane: detects obstacles at ~1,500 mm on average; micronavigation only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dog: helps with both aspects of wayfinding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dog: needs training; cost is prohibitive for most people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I. Introduction &amp; Section II. Micronavigation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of Electronic Travel Aids (ETA)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Laser/ultrasonic: poor environmental information; micronavigation only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Laser/ultrasonic: mapping the full scene needs several sensors, adding complexity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GPS: poor satellite coverage indoors significantly decreases accuracy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RFID: infrastructure-dependent; tags must be preinstalled by technicians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many technologies can be complex, cumbersome and expensive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I. Introduction &amp; Section II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Proposed Solution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RGB-D cameras such as Microsoft Kinect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images: depth image and color image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image: distance to the nearest physical surface, per pixel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image: recognizes printed markers at points of interest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sensor perceives the whole scene; printed markers replace RFID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III. System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INVys System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 detection: AADT finds the closest obstacle and its distance in mm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recognition: processes color images to find and classify glyphs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Feedback: decision module decides if feedback is needed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module delivers sound or voice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A3D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Figure 1 ]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1. INVys architecture consists of three subsystems.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II. Micronavigation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Approaches to Micronavigation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(triangulation) and ultrasonic (time of flight) are common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depth method: user height and width used to find farthest reachable point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methods split the depth image into areas processed separately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methods combine depth and color via image processing or computer vision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INVys: few areas for easy directions + depth-histogram analysis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IV.A. Basic Requirement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 Detection Strategy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"Friendliness" defines the maturity of an avoidance system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in front divided into three paths: left, middle, right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only remember three directions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1,500 mm each subarea covers objects up to 549 mm wide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549 mm exceeds average shoulder breadth of Singaporeans and Indonesians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A3D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Figure 2 ]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2. Captured image in front of persons with visual impairment is divided into three regions.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IV.B. Baseline Approach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Detection Method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image 640 × 480 at 30 fps: more than 9 million depth samples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divided into 32 × 40 blocks; block averages computed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grouped into 5 × 3 regions; ten middle sorted values kept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15 distance values, one per region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IV.C. Auto-Adaptive Thresholding (AAT)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AAT Overview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version of AADT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thresholds specific to each depth subarea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areas, each converted to a depth histogram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 two closest peaks; applies Otsu thresholding between them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Otsu maximizes between-class variance (Eq. 1–2)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Separates the closest object from objects behind it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IV.C. Auto-Adaptive Thresholding (AAT)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of AAT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when the object is closer than 2,500 mm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declines beyond 2,500 mm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separate object from the floor when the floor is detected beyond 2,500 mm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IV.D. Auto-Adaptive Double Thresholding (AADT)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AADT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development of AAT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object-vs-floor confusion beyond 2,500 mm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AAT uses one threshold; AADT produces two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threshold generated automatically, varying per area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Differs from AAT in peak selection, thresholds and final distance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IV.D.1–2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AADT Processing: Steps 1 and 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raw Kinect depth converted to 8-bit grayscale (Eq. 3)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Grayscale is used to visualize depth on screen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image divided into left, middle and right areas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step and later ones run at 2 Hz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processed separately and simultaneously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IV.D.3–4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AADT Processing: Steps 3 and 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downsampling uses one pixel per 2 × 2 block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data and speeds computing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pixels categorized into 100 histogram groups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mm per group, covering 0 to 4,000 mm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IV.D.5. Peak Detection and Selection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AADT Processing: Step 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maximum in the histogram usually indicates an object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 value computed per group (Eq. 4); parameter n filters noise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 1: contrast larger than 300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 2: local maxima more than four groups apart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peak: closest to the Kinect (smallest group number)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IV.D.6. Double Threshold Selection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AADT Processing: Step 6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thresholds (T1, T2) separate the closest peak from surrounding data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T1: first local minimum at a smaller distance than the peak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T2: first local minimum at a larger distance than the peak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via slopes; stop where gradient changes dramatically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1 gives T1; Algorithm 2 gives T2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rule: frequency at threshold below half the peak frequency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IV.D.7. Final Distance Calculation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AADT Processing: Step 7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of depth values between T1 and T2 (Eq. 5)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three distance values in millimeters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each for left, middle and right areas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V. Glyph Recognition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Macronavigation via Optical Glyphs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glyph: printed square grid with equally divided rows and columns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black or white; first and last row/column all black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Adapted from augmented reality to convey signs, places and interest points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Andrew Kirillov's method; enhanced binarization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camera 640 × 480 at 30 fps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steps: image processing, then glyph recognition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V.A.1–3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Image Processing (Part 1)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Grayscale: ITU-BT.709 weights 0.2125 R, 0.7154 G, 0.072 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detection: max difference between neighbor pixels in four directions (Eq. 6)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Blob detection: threshold the edges image to binary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component labelling groups pixels by connectivity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A3D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Figure 3 (a)–(e)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3 (a)–(e). Acquired RGB, grayscale, edges, binary and blob images.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V.A.4–6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Image Processing (Part 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 detection: bounding box, center, then four corners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between corners must be within the distortion limit (Eq. 7)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detection: brightness inside vs outside the rectangle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border surrounded by white gives a very high difference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Cropped glyph converted to binary with Otsu thresholding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A3D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Figure 3 (f)–(g)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3 (f)–(g). Detected glyph in grayscale and in binary.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V.B. Recognition (Glyph Binarization)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Glyph Binarization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split into s × s cells, each converted to 0 or 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60% black: 0; beyond 60% white: 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Kirillov's method needs glyph size set in advance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method tests sizes from 10 × 10 down to 5 × 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than 10 × 10 is rarely used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data (1) starts from the second row/column (Algorithm 3)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A3D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Figure 3 (h)–(i)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3 (h)–(i). Glyph binarization process and its result.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V.B. Recognition (Glyph Matching)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Matching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Binarized matrix compared with database matrix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conditions: ideal, rotated 90°, 180°, 270°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by rotating the matrix and comparing values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VI.A. Hardware Configuration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Setup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Kinect 360 as RGB-D camera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pack powers the Kinect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Laptop/computer tablet runs the INVys software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Earphone delivers feedback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Kinect: 640 × 480 depth, 3,500 mm range, 57.5° horizontal, 43.5° vertical 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A3D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Figure 4 ]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4. INVys hardware parts worn by the user and the data flow between them.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VI.B.1. Obstacle Detection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Micronavigation Experiment Design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at 890 mm (average hip height, 50-year-old Indonesians)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objects: human, chair type 1, chair type 2, trash, electric fan, piles of cardboard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positions: six per depth image area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vs real distance in millimeters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 baseline, AAT, AADT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A3D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Figure 5 (a)–(b)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5 (a)–(b). Blindfolded man conducting the experiment; the 18 object positions.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VI.B.2. Glyph Recognition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Macronavigation Experiment Design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glyph patterns; two sizes: A (6 × 6 cm), B (11.5 × 11.5 cm)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every 300 mm until no longer recognized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Normal: ideal, then rotated clockwise 90°, 180°, 270°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Tilted: 45° to left-back, right-back, top-back, bottom-back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Tilt matters because the camera moves with the user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A3D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Figure 6 (a)–(b)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6 (a)–(b). Glyph recognition experiment in normal and tilted conditions.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VI.B. Performance Indicators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average distance error between estimate and truth (Eq. 8)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Precision: consistency over many trials, measured by CDF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Robustness: consistent accuracy along the camera's depth coverage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time: speed in real-time conditions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tests: accuracy (% recognized) and execution time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VI.C.1. Results (Accuracy)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 Accuracy Results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AADT smallest average error: 50.2 mm (SD 87.7 mm)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algorithms worse when the floor was detected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AADT stayed below 100 mm in both floor conditions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and AAT errors were far higher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A3D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Figure 7 (a)–(b)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7 (a)–(b). Average error per algorithm; floor detected vs not detected.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VI.C.1. Results (Precision)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 Precision Results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error range for AADT: 0 to 137.9 mm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93.5% of AADT errors below 100 mm, over 108 trials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AAT: only 53.7% within 100 mm (CDF 0.537)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AADT is the most precise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A3D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Figure 8 ]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8. CDF of distance calculation errors over many trials.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VI.C.1. Results (Robustness)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Obstacle Robustness Results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 acceptable to 2,000 mm, then errors too high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AAT: below 200 mm to 2,500 mm; over 600 mm at 3,500 mm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AADT: below 150 mm across the whole camera range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AADT error range across distances: only 103.3 mm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21.3 mm accuracy loss per 500 mm of distance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A3D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Figure 9 ]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9. Accuracy of each algorithm as obstacle distance increases.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VI.C.1. Results (Execution Time)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Time Results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 7.41 ms (SD 1.19)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AAT: 7.05 ms (SD 1.22)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AADT: 9.50 ms (SD 3.61)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AADT slower, with only small differences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AADT better on accuracy, precision, robustness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A3D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Table I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I. Average execution time of baseline approach, AAT, and AADT.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VI.C.2. Results (Distance)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Accuracy by Distance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is inversely proportional to distance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is proportional to glyph size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120: glyph A 0%; glyph B above 90% (units as stated in paper)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A drops significantly at 600 mm or beyond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300–1,500 mm: glyph B 91%, glyph A 38.5%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practical size: 11.5 × 11.5 cm or larger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A3D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Figure 10 ]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10. Average accuracy of glyph A (6 × 6 cm) and glyph B (11.5 × 11.5 cm) per distance.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VI.C.2. Results (Time)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Execution Time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Average: glyph A 82 ms; glyph B 68 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Fastest: glyph A 53 ms; glyph B 41 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Slowest: glyph A 138 ms; glyph B 90 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B recognized better and quicker; difference is minute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A3D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Table II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II. Average execution time of glyph recognition, glyph A vs glyph B.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VI.C.2. Results (Tilt)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of Glyph Tilting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Tilted glyph A: lower accuracy at most distances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Tilted glyph B: clearly lower between 1,200 and 1,800 mm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1,500 mm: non-tilted 100%, tilted only 30%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Tilt reduces overall accuracy more than non-tilted conditions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A3D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0" y="137160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Figure 11 (a)–(b)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840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11 (a)–(b). Tilted vs non-tilted accuracy for glyph A (a) and glyph B (b).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Section VII. Conclusion and Future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camera for micronavigation; color camera for macronavigation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AADT outperformed others: accuracy 50.2 mm, precision, robustness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weakness: execution time, judged negligible by the authors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B: 91% average accuracy at 300–1,500 mm vs 38.5% for glyph 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positioning system and path planning without markers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guide users step by step between places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A3D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35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INVys</dc:title>
  <dc:subject>PptxGenJS Presentation</dc:subject>
  <dc:creator>PptxGenJS</dc:creator>
  <cp:lastModifiedBy>PptxGenJS</cp:lastModifiedBy>
  <cp:revision>1</cp:revision>
  <dcterms:created xsi:type="dcterms:W3CDTF">2026-09-30T11:41:43Z</dcterms:created>
  <dcterms:modified xsi:type="dcterms:W3CDTF">2026-09-30T11:41:43Z</dcterms:modified>
</cp:coreProperties>
</file>